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856" r:id="rId1"/>
  </p:sldMasterIdLst>
  <p:sldIdLst>
    <p:sldId id="256" r:id="rId2"/>
  </p:sldIdLst>
  <p:sldSz cx="30279975" cy="42805350"/>
  <p:notesSz cx="6858000" cy="9144000"/>
  <p:defaultTextStyle>
    <a:defPPr>
      <a:defRPr lang="et-E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B9D256-7011-4894-8326-F87FC3C48B1F}" v="99" dt="2019-12-16T09:22:20.235"/>
    <p1510:client id="{179E562A-9CDA-4397-918B-E56D75A6624B}" v="678" dt="2019-12-16T06:25:55.861"/>
    <p1510:client id="{3CEEDC9C-4FF2-4C79-87A3-20A14582AEDE}" v="619" dt="2019-12-16T07:15:45.796"/>
    <p1510:client id="{1022D518-1133-4C0C-B131-BACBBDA13158}" v="175" dt="2019-12-16T09:39:42.742"/>
    <p1510:client id="{157C3F61-AAB5-4235-81DD-D7498BB033B9}" v="11" dt="2019-12-16T08:23:28.040"/>
    <p1510:client id="{648C92FB-E440-4F35-80A3-06234FC8F7CE}" v="764" dt="2019-12-16T09:39:19.939"/>
    <p1510:client id="{E1EA16E1-87CE-40C3-88DD-C9976D6C37AE}" v="1" dt="2019-12-16T03:44:02.2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0" y="-103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7890" y="39951660"/>
            <a:ext cx="30272090" cy="28536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42" y="39536689"/>
            <a:ext cx="30272090" cy="3995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725198" y="4737125"/>
            <a:ext cx="24980979" cy="22258782"/>
          </a:xfrm>
        </p:spPr>
        <p:txBody>
          <a:bodyPr anchor="b">
            <a:normAutofit/>
          </a:bodyPr>
          <a:lstStyle>
            <a:lvl1pPr algn="l">
              <a:lnSpc>
                <a:spcPct val="85000"/>
              </a:lnSpc>
              <a:defRPr sz="5659" spc="-35"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2732079" y="27810501"/>
            <a:ext cx="24980979" cy="7134225"/>
          </a:xfrm>
        </p:spPr>
        <p:txBody>
          <a:bodyPr lIns="91440" rIns="91440">
            <a:normAutofit/>
          </a:bodyPr>
          <a:lstStyle>
            <a:lvl1pPr marL="0" indent="0" algn="l">
              <a:buNone/>
              <a:defRPr sz="1698" cap="all" spc="141" baseline="0">
                <a:solidFill>
                  <a:schemeClr val="tx2"/>
                </a:solidFill>
                <a:latin typeface="+mj-lt"/>
              </a:defRPr>
            </a:lvl1pPr>
            <a:lvl2pPr marL="323423" indent="0" algn="ctr">
              <a:buNone/>
              <a:defRPr sz="1698"/>
            </a:lvl2pPr>
            <a:lvl3pPr marL="646847" indent="0" algn="ctr">
              <a:buNone/>
              <a:defRPr sz="1698"/>
            </a:lvl3pPr>
            <a:lvl4pPr marL="970270" indent="0" algn="ctr">
              <a:buNone/>
              <a:defRPr sz="1415"/>
            </a:lvl4pPr>
            <a:lvl5pPr marL="1293693" indent="0" algn="ctr">
              <a:buNone/>
              <a:defRPr sz="1415"/>
            </a:lvl5pPr>
            <a:lvl6pPr marL="1617116" indent="0" algn="ctr">
              <a:buNone/>
              <a:defRPr sz="1415"/>
            </a:lvl6pPr>
            <a:lvl7pPr marL="1940540" indent="0" algn="ctr">
              <a:buNone/>
              <a:defRPr sz="1415"/>
            </a:lvl7pPr>
            <a:lvl8pPr marL="2263963" indent="0" algn="ctr">
              <a:buNone/>
              <a:defRPr sz="1415"/>
            </a:lvl8pPr>
            <a:lvl9pPr marL="2587386" indent="0" algn="ctr">
              <a:buNone/>
              <a:defRPr sz="1415"/>
            </a:lvl9pPr>
          </a:lstStyle>
          <a:p>
            <a:r>
              <a:rPr lang="en-US"/>
              <a:t>Click to edit Master subtitle style</a:t>
            </a:r>
          </a:p>
        </p:txBody>
      </p:sp>
      <p:sp>
        <p:nvSpPr>
          <p:cNvPr id="4" name="Date Placeholder 3"/>
          <p:cNvSpPr>
            <a:spLocks noGrp="1"/>
          </p:cNvSpPr>
          <p:nvPr>
            <p:ph type="dt" sz="half" idx="10"/>
          </p:nvPr>
        </p:nvSpPr>
        <p:spPr/>
        <p:txBody>
          <a:bodyPr/>
          <a:lstStyle/>
          <a:p>
            <a:fld id="{96DFF08F-DC6B-4601-B491-B0F83F6DD2DA}" type="datetimeFigureOut">
              <a:rPr lang="en-US" dirty="0"/>
              <a:t>12/16/2019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cxnSp>
        <p:nvCxnSpPr>
          <p:cNvPr id="9" name="Straight Connector 8"/>
          <p:cNvCxnSpPr/>
          <p:nvPr/>
        </p:nvCxnSpPr>
        <p:spPr>
          <a:xfrm>
            <a:off x="2999333" y="27110055"/>
            <a:ext cx="245267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8182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45B14A8-72AD-4B33-8F5F-77378A380B9C}" type="datetimeFigureOut">
              <a:rPr lang="en-US" dirty="0"/>
              <a:t>12/16/2019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75EF7F-F8BA-4738-89CD-A97909FC6BBE}" type="slidenum">
              <a:rPr lang="en-US" dirty="0"/>
              <a:t>‹#›</a:t>
            </a:fld>
            <a:endParaRPr lang="en-US"/>
          </a:p>
        </p:txBody>
      </p:sp>
    </p:spTree>
    <p:extLst>
      <p:ext uri="{BB962C8B-B14F-4D97-AF65-F5344CB8AC3E}">
        <p14:creationId xmlns:p14="http://schemas.microsoft.com/office/powerpoint/2010/main" val="3851177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7890" y="39951660"/>
            <a:ext cx="30272090" cy="28536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42" y="39536689"/>
            <a:ext cx="30272090" cy="3995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725198" y="4737125"/>
            <a:ext cx="24980979" cy="22258782"/>
          </a:xfrm>
        </p:spPr>
        <p:txBody>
          <a:bodyPr anchor="b" anchorCtr="0">
            <a:normAutofit/>
          </a:bodyPr>
          <a:lstStyle>
            <a:lvl1pPr>
              <a:lnSpc>
                <a:spcPct val="85000"/>
              </a:lnSpc>
              <a:defRPr sz="5659"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2725198" y="27794941"/>
            <a:ext cx="24980979" cy="7134225"/>
          </a:xfrm>
        </p:spPr>
        <p:txBody>
          <a:bodyPr lIns="91440" rIns="91440" anchor="t" anchorCtr="0">
            <a:normAutofit/>
          </a:bodyPr>
          <a:lstStyle>
            <a:lvl1pPr marL="0" indent="0">
              <a:buNone/>
              <a:defRPr sz="1698" cap="all" spc="141" baseline="0">
                <a:solidFill>
                  <a:schemeClr val="tx2"/>
                </a:solidFill>
                <a:latin typeface="+mj-lt"/>
              </a:defRPr>
            </a:lvl1pPr>
            <a:lvl2pPr marL="323423" indent="0">
              <a:buNone/>
              <a:defRPr sz="1273">
                <a:solidFill>
                  <a:schemeClr val="tx1">
                    <a:tint val="75000"/>
                  </a:schemeClr>
                </a:solidFill>
              </a:defRPr>
            </a:lvl2pPr>
            <a:lvl3pPr marL="646847" indent="0">
              <a:buNone/>
              <a:defRPr sz="1132">
                <a:solidFill>
                  <a:schemeClr val="tx1">
                    <a:tint val="75000"/>
                  </a:schemeClr>
                </a:solidFill>
              </a:defRPr>
            </a:lvl3pPr>
            <a:lvl4pPr marL="970270" indent="0">
              <a:buNone/>
              <a:defRPr sz="990">
                <a:solidFill>
                  <a:schemeClr val="tx1">
                    <a:tint val="75000"/>
                  </a:schemeClr>
                </a:solidFill>
              </a:defRPr>
            </a:lvl4pPr>
            <a:lvl5pPr marL="1293693" indent="0">
              <a:buNone/>
              <a:defRPr sz="990">
                <a:solidFill>
                  <a:schemeClr val="tx1">
                    <a:tint val="75000"/>
                  </a:schemeClr>
                </a:solidFill>
              </a:defRPr>
            </a:lvl5pPr>
            <a:lvl6pPr marL="1617116" indent="0">
              <a:buNone/>
              <a:defRPr sz="990">
                <a:solidFill>
                  <a:schemeClr val="tx1">
                    <a:tint val="75000"/>
                  </a:schemeClr>
                </a:solidFill>
              </a:defRPr>
            </a:lvl6pPr>
            <a:lvl7pPr marL="1940540" indent="0">
              <a:buNone/>
              <a:defRPr sz="990">
                <a:solidFill>
                  <a:schemeClr val="tx1">
                    <a:tint val="75000"/>
                  </a:schemeClr>
                </a:solidFill>
              </a:defRPr>
            </a:lvl7pPr>
            <a:lvl8pPr marL="2263963" indent="0">
              <a:buNone/>
              <a:defRPr sz="990">
                <a:solidFill>
                  <a:schemeClr val="tx1">
                    <a:tint val="75000"/>
                  </a:schemeClr>
                </a:solidFill>
              </a:defRPr>
            </a:lvl8pPr>
            <a:lvl9pPr marL="2587386" indent="0">
              <a:buNone/>
              <a:defRPr sz="99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12/16/2019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cxnSp>
        <p:nvCxnSpPr>
          <p:cNvPr id="9" name="Straight Connector 8"/>
          <p:cNvCxnSpPr/>
          <p:nvPr/>
        </p:nvCxnSpPr>
        <p:spPr>
          <a:xfrm>
            <a:off x="2999333" y="27110055"/>
            <a:ext cx="245267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3571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2725198" y="1788890"/>
            <a:ext cx="24980979" cy="9055142"/>
          </a:xfrm>
        </p:spPr>
        <p:txBody>
          <a:bodyPr/>
          <a:lstStyle/>
          <a:p>
            <a:r>
              <a:rPr lang="en-US"/>
              <a:t>Click to edit Master title style</a:t>
            </a:r>
          </a:p>
        </p:txBody>
      </p:sp>
      <p:sp>
        <p:nvSpPr>
          <p:cNvPr id="3" name="Content Placeholder 2"/>
          <p:cNvSpPr>
            <a:spLocks noGrp="1"/>
          </p:cNvSpPr>
          <p:nvPr>
            <p:ph sz="half" idx="1"/>
          </p:nvPr>
        </p:nvSpPr>
        <p:spPr>
          <a:xfrm>
            <a:off x="2725198" y="11520466"/>
            <a:ext cx="12263390" cy="251124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5442787" y="11520463"/>
            <a:ext cx="12263390" cy="25112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DFF08F-DC6B-4601-B491-B0F83F6DD2DA}" type="datetimeFigureOut">
              <a:rPr lang="en-US" dirty="0"/>
              <a:t>12/16/2019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892437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2725198" y="1788890"/>
            <a:ext cx="24980979" cy="9055142"/>
          </a:xfrm>
        </p:spPr>
        <p:txBody>
          <a:bodyPr/>
          <a:lstStyle/>
          <a:p>
            <a:r>
              <a:rPr lang="en-US"/>
              <a:t>Click to edit Master title style</a:t>
            </a:r>
          </a:p>
        </p:txBody>
      </p:sp>
      <p:sp>
        <p:nvSpPr>
          <p:cNvPr id="3" name="Text Placeholder 2"/>
          <p:cNvSpPr>
            <a:spLocks noGrp="1"/>
          </p:cNvSpPr>
          <p:nvPr>
            <p:ph type="body" idx="1"/>
          </p:nvPr>
        </p:nvSpPr>
        <p:spPr>
          <a:xfrm>
            <a:off x="2725198" y="11522441"/>
            <a:ext cx="12263390" cy="4595627"/>
          </a:xfrm>
        </p:spPr>
        <p:txBody>
          <a:bodyPr lIns="91440" rIns="91440" anchor="ctr">
            <a:normAutofit/>
          </a:bodyPr>
          <a:lstStyle>
            <a:lvl1pPr marL="0" indent="0">
              <a:buNone/>
              <a:defRPr sz="1415" b="0" cap="all" baseline="0">
                <a:solidFill>
                  <a:schemeClr val="tx2"/>
                </a:solidFill>
              </a:defRPr>
            </a:lvl1pPr>
            <a:lvl2pPr marL="323423" indent="0">
              <a:buNone/>
              <a:defRPr sz="1415" b="1"/>
            </a:lvl2pPr>
            <a:lvl3pPr marL="646847" indent="0">
              <a:buNone/>
              <a:defRPr sz="1273" b="1"/>
            </a:lvl3pPr>
            <a:lvl4pPr marL="970270" indent="0">
              <a:buNone/>
              <a:defRPr sz="1132" b="1"/>
            </a:lvl4pPr>
            <a:lvl5pPr marL="1293693" indent="0">
              <a:buNone/>
              <a:defRPr sz="1132" b="1"/>
            </a:lvl5pPr>
            <a:lvl6pPr marL="1617116" indent="0">
              <a:buNone/>
              <a:defRPr sz="1132" b="1"/>
            </a:lvl6pPr>
            <a:lvl7pPr marL="1940540" indent="0">
              <a:buNone/>
              <a:defRPr sz="1132" b="1"/>
            </a:lvl7pPr>
            <a:lvl8pPr marL="2263963" indent="0">
              <a:buNone/>
              <a:defRPr sz="1132" b="1"/>
            </a:lvl8pPr>
            <a:lvl9pPr marL="2587386" indent="0">
              <a:buNone/>
              <a:defRPr sz="1132" b="1"/>
            </a:lvl9pPr>
          </a:lstStyle>
          <a:p>
            <a:pPr lvl="0"/>
            <a:r>
              <a:rPr lang="en-US"/>
              <a:t>Click to edit Master text styles</a:t>
            </a:r>
          </a:p>
        </p:txBody>
      </p:sp>
      <p:sp>
        <p:nvSpPr>
          <p:cNvPr id="4" name="Content Placeholder 3"/>
          <p:cNvSpPr>
            <a:spLocks noGrp="1"/>
          </p:cNvSpPr>
          <p:nvPr>
            <p:ph sz="half" idx="2"/>
          </p:nvPr>
        </p:nvSpPr>
        <p:spPr>
          <a:xfrm>
            <a:off x="2725198" y="16118074"/>
            <a:ext cx="12263390" cy="205148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5442787" y="11522441"/>
            <a:ext cx="12263390" cy="4595627"/>
          </a:xfrm>
        </p:spPr>
        <p:txBody>
          <a:bodyPr lIns="91440" rIns="91440" anchor="ctr">
            <a:normAutofit/>
          </a:bodyPr>
          <a:lstStyle>
            <a:lvl1pPr marL="0" indent="0">
              <a:buNone/>
              <a:defRPr sz="1415" b="0" cap="all" baseline="0">
                <a:solidFill>
                  <a:schemeClr val="tx2"/>
                </a:solidFill>
              </a:defRPr>
            </a:lvl1pPr>
            <a:lvl2pPr marL="323423" indent="0">
              <a:buNone/>
              <a:defRPr sz="1415" b="1"/>
            </a:lvl2pPr>
            <a:lvl3pPr marL="646847" indent="0">
              <a:buNone/>
              <a:defRPr sz="1273" b="1"/>
            </a:lvl3pPr>
            <a:lvl4pPr marL="970270" indent="0">
              <a:buNone/>
              <a:defRPr sz="1132" b="1"/>
            </a:lvl4pPr>
            <a:lvl5pPr marL="1293693" indent="0">
              <a:buNone/>
              <a:defRPr sz="1132" b="1"/>
            </a:lvl5pPr>
            <a:lvl6pPr marL="1617116" indent="0">
              <a:buNone/>
              <a:defRPr sz="1132" b="1"/>
            </a:lvl6pPr>
            <a:lvl7pPr marL="1940540" indent="0">
              <a:buNone/>
              <a:defRPr sz="1132" b="1"/>
            </a:lvl7pPr>
            <a:lvl8pPr marL="2263963" indent="0">
              <a:buNone/>
              <a:defRPr sz="1132" b="1"/>
            </a:lvl8pPr>
            <a:lvl9pPr marL="2587386" indent="0">
              <a:buNone/>
              <a:defRPr sz="1132" b="1"/>
            </a:lvl9pPr>
          </a:lstStyle>
          <a:p>
            <a:pPr lvl="0"/>
            <a:r>
              <a:rPr lang="en-US"/>
              <a:t>Click to edit Master text styles</a:t>
            </a:r>
          </a:p>
        </p:txBody>
      </p:sp>
      <p:sp>
        <p:nvSpPr>
          <p:cNvPr id="6" name="Content Placeholder 5"/>
          <p:cNvSpPr>
            <a:spLocks noGrp="1"/>
          </p:cNvSpPr>
          <p:nvPr>
            <p:ph sz="quarter" idx="4"/>
          </p:nvPr>
        </p:nvSpPr>
        <p:spPr>
          <a:xfrm>
            <a:off x="15442787" y="16118068"/>
            <a:ext cx="12263390" cy="205148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6DFF08F-DC6B-4601-B491-B0F83F6DD2DA}" type="datetimeFigureOut">
              <a:rPr lang="en-US" dirty="0"/>
              <a:t>12/16/2019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813542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6DFF08F-DC6B-4601-B491-B0F83F6DD2DA}" type="datetimeFigureOut">
              <a:rPr lang="en-US" dirty="0"/>
              <a:t>12/16/2019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695071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7890" y="39951660"/>
            <a:ext cx="30272090" cy="28536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42" y="39536689"/>
            <a:ext cx="30272090" cy="3995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6DFF08F-DC6B-4601-B491-B0F83F6DD2DA}" type="datetimeFigureOut">
              <a:rPr lang="en-US" dirty="0"/>
              <a:pPr/>
              <a:t>12/16/2019</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4237311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45" y="0"/>
            <a:ext cx="10060518" cy="428053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033894" y="0"/>
            <a:ext cx="158970" cy="42805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35499" y="3709791"/>
            <a:ext cx="7948493" cy="14268450"/>
          </a:xfrm>
        </p:spPr>
        <p:txBody>
          <a:bodyPr anchor="b">
            <a:normAutofit/>
          </a:bodyPr>
          <a:lstStyle>
            <a:lvl1pPr>
              <a:defRPr sz="2547" b="0">
                <a:solidFill>
                  <a:srgbClr val="FFFFFF"/>
                </a:solidFill>
              </a:defRPr>
            </a:lvl1pPr>
          </a:lstStyle>
          <a:p>
            <a:r>
              <a:rPr lang="en-US"/>
              <a:t>Click to edit Master title style</a:t>
            </a:r>
          </a:p>
        </p:txBody>
      </p:sp>
      <p:sp>
        <p:nvSpPr>
          <p:cNvPr id="3" name="Content Placeholder 2"/>
          <p:cNvSpPr>
            <a:spLocks noGrp="1"/>
          </p:cNvSpPr>
          <p:nvPr>
            <p:ph idx="1"/>
          </p:nvPr>
        </p:nvSpPr>
        <p:spPr>
          <a:xfrm>
            <a:off x="11922740" y="4565904"/>
            <a:ext cx="16124087" cy="328174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35499" y="18263616"/>
            <a:ext cx="7948493" cy="21091366"/>
          </a:xfrm>
        </p:spPr>
        <p:txBody>
          <a:bodyPr lIns="91440" rIns="91440">
            <a:normAutofit/>
          </a:bodyPr>
          <a:lstStyle>
            <a:lvl1pPr marL="0" indent="0">
              <a:buNone/>
              <a:defRPr sz="1061">
                <a:solidFill>
                  <a:srgbClr val="FFFFFF"/>
                </a:solidFill>
              </a:defRPr>
            </a:lvl1pPr>
            <a:lvl2pPr marL="323423" indent="0">
              <a:buNone/>
              <a:defRPr sz="849"/>
            </a:lvl2pPr>
            <a:lvl3pPr marL="646847" indent="0">
              <a:buNone/>
              <a:defRPr sz="707"/>
            </a:lvl3pPr>
            <a:lvl4pPr marL="970270" indent="0">
              <a:buNone/>
              <a:defRPr sz="637"/>
            </a:lvl4pPr>
            <a:lvl5pPr marL="1293693" indent="0">
              <a:buNone/>
              <a:defRPr sz="637"/>
            </a:lvl5pPr>
            <a:lvl6pPr marL="1617116" indent="0">
              <a:buNone/>
              <a:defRPr sz="637"/>
            </a:lvl6pPr>
            <a:lvl7pPr marL="1940540" indent="0">
              <a:buNone/>
              <a:defRPr sz="637"/>
            </a:lvl7pPr>
            <a:lvl8pPr marL="2263963" indent="0">
              <a:buNone/>
              <a:defRPr sz="637"/>
            </a:lvl8pPr>
            <a:lvl9pPr marL="2587386" indent="0">
              <a:buNone/>
              <a:defRPr sz="637"/>
            </a:lvl9pPr>
          </a:lstStyle>
          <a:p>
            <a:pPr lvl="0"/>
            <a:r>
              <a:rPr lang="en-US"/>
              <a:t>Click to edit Master text styles</a:t>
            </a:r>
          </a:p>
        </p:txBody>
      </p:sp>
      <p:sp>
        <p:nvSpPr>
          <p:cNvPr id="5" name="Date Placeholder 4"/>
          <p:cNvSpPr>
            <a:spLocks noGrp="1"/>
          </p:cNvSpPr>
          <p:nvPr>
            <p:ph type="dt" sz="half" idx="10"/>
          </p:nvPr>
        </p:nvSpPr>
        <p:spPr>
          <a:xfrm>
            <a:off x="1156144" y="40319834"/>
            <a:ext cx="6503317" cy="2278989"/>
          </a:xfrm>
        </p:spPr>
        <p:txBody>
          <a:bodyPr/>
          <a:lstStyle>
            <a:lvl1pPr algn="l">
              <a:defRPr/>
            </a:lvl1pPr>
          </a:lstStyle>
          <a:p>
            <a:fld id="{96DFF08F-DC6B-4601-B491-B0F83F6DD2DA}" type="datetimeFigureOut">
              <a:rPr lang="en-US" dirty="0"/>
              <a:pPr/>
              <a:t>12/16/2019</a:t>
            </a:fld>
            <a:endParaRPr lang="en-US"/>
          </a:p>
        </p:txBody>
      </p:sp>
      <p:sp>
        <p:nvSpPr>
          <p:cNvPr id="6" name="Footer Placeholder 5"/>
          <p:cNvSpPr>
            <a:spLocks noGrp="1"/>
          </p:cNvSpPr>
          <p:nvPr>
            <p:ph type="ftr" sz="quarter" idx="11"/>
          </p:nvPr>
        </p:nvSpPr>
        <p:spPr>
          <a:xfrm>
            <a:off x="11922740" y="40319834"/>
            <a:ext cx="11544240" cy="2278989"/>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1378923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2" y="30914975"/>
            <a:ext cx="30272090" cy="118903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2" y="30678266"/>
            <a:ext cx="30272090" cy="3995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725198" y="31675959"/>
            <a:ext cx="25132379" cy="5136642"/>
          </a:xfrm>
        </p:spPr>
        <p:txBody>
          <a:bodyPr tIns="0" bIns="0" anchor="b">
            <a:noAutofit/>
          </a:bodyPr>
          <a:lstStyle>
            <a:lvl1pPr>
              <a:defRPr sz="2547"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41" y="0"/>
            <a:ext cx="30279939" cy="30678266"/>
          </a:xfrm>
          <a:solidFill>
            <a:schemeClr val="bg2">
              <a:lumMod val="90000"/>
            </a:schemeClr>
          </a:solidFill>
        </p:spPr>
        <p:txBody>
          <a:bodyPr lIns="457200" tIns="457200" anchor="t"/>
          <a:lstStyle>
            <a:lvl1pPr marL="0" indent="0">
              <a:buNone/>
              <a:defRPr sz="2264"/>
            </a:lvl1pPr>
            <a:lvl2pPr marL="323423" indent="0">
              <a:buNone/>
              <a:defRPr sz="1981"/>
            </a:lvl2pPr>
            <a:lvl3pPr marL="646847" indent="0">
              <a:buNone/>
              <a:defRPr sz="1698"/>
            </a:lvl3pPr>
            <a:lvl4pPr marL="970270" indent="0">
              <a:buNone/>
              <a:defRPr sz="1415"/>
            </a:lvl4pPr>
            <a:lvl5pPr marL="1293693" indent="0">
              <a:buNone/>
              <a:defRPr sz="1415"/>
            </a:lvl5pPr>
            <a:lvl6pPr marL="1617116" indent="0">
              <a:buNone/>
              <a:defRPr sz="1415"/>
            </a:lvl6pPr>
            <a:lvl7pPr marL="1940540" indent="0">
              <a:buNone/>
              <a:defRPr sz="1415"/>
            </a:lvl7pPr>
            <a:lvl8pPr marL="2263963" indent="0">
              <a:buNone/>
              <a:defRPr sz="1415"/>
            </a:lvl8pPr>
            <a:lvl9pPr marL="2587386" indent="0">
              <a:buNone/>
              <a:defRPr sz="1415"/>
            </a:lvl9pPr>
          </a:lstStyle>
          <a:p>
            <a:endParaRPr lang="en-US"/>
          </a:p>
        </p:txBody>
      </p:sp>
      <p:sp>
        <p:nvSpPr>
          <p:cNvPr id="4" name="Text Placeholder 3"/>
          <p:cNvSpPr>
            <a:spLocks noGrp="1"/>
          </p:cNvSpPr>
          <p:nvPr>
            <p:ph type="body" sz="half" idx="2"/>
          </p:nvPr>
        </p:nvSpPr>
        <p:spPr>
          <a:xfrm>
            <a:off x="2725198" y="36869675"/>
            <a:ext cx="25132379" cy="3709797"/>
          </a:xfrm>
        </p:spPr>
        <p:txBody>
          <a:bodyPr lIns="91440" tIns="0" rIns="91440" bIns="0">
            <a:normAutofit/>
          </a:bodyPr>
          <a:lstStyle>
            <a:lvl1pPr marL="0" indent="0">
              <a:spcBef>
                <a:spcPts val="0"/>
              </a:spcBef>
              <a:spcAft>
                <a:spcPts val="424"/>
              </a:spcAft>
              <a:buNone/>
              <a:defRPr sz="1061">
                <a:solidFill>
                  <a:srgbClr val="FFFFFF"/>
                </a:solidFill>
              </a:defRPr>
            </a:lvl1pPr>
            <a:lvl2pPr marL="323423" indent="0">
              <a:buNone/>
              <a:defRPr sz="849"/>
            </a:lvl2pPr>
            <a:lvl3pPr marL="646847" indent="0">
              <a:buNone/>
              <a:defRPr sz="707"/>
            </a:lvl3pPr>
            <a:lvl4pPr marL="970270" indent="0">
              <a:buNone/>
              <a:defRPr sz="637"/>
            </a:lvl4pPr>
            <a:lvl5pPr marL="1293693" indent="0">
              <a:buNone/>
              <a:defRPr sz="637"/>
            </a:lvl5pPr>
            <a:lvl6pPr marL="1617116" indent="0">
              <a:buNone/>
              <a:defRPr sz="637"/>
            </a:lvl6pPr>
            <a:lvl7pPr marL="1940540" indent="0">
              <a:buNone/>
              <a:defRPr sz="637"/>
            </a:lvl7pPr>
            <a:lvl8pPr marL="2263963" indent="0">
              <a:buNone/>
              <a:defRPr sz="637"/>
            </a:lvl8pPr>
            <a:lvl9pPr marL="2587386" indent="0">
              <a:buNone/>
              <a:defRPr sz="637"/>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12/16/2019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850577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DFF08F-DC6B-4601-B491-B0F83F6DD2DA}" type="datetimeFigureOut">
              <a:rPr lang="en-US" dirty="0"/>
              <a:t>12/16/2019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4223378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7890" y="39951660"/>
            <a:ext cx="30272090" cy="28536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42" y="39536689"/>
            <a:ext cx="30272090" cy="3995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21669109" y="2573452"/>
            <a:ext cx="6529120" cy="359513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081750" y="2573452"/>
            <a:ext cx="19208859" cy="35951363"/>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DFF08F-DC6B-4601-B491-B0F83F6DD2DA}" type="datetimeFigureOut">
              <a:rPr lang="en-US" dirty="0"/>
              <a:t>12/16/2019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987400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 y="39951660"/>
            <a:ext cx="30279978" cy="28536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2" y="39536689"/>
            <a:ext cx="30279978" cy="4149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725198" y="1788890"/>
            <a:ext cx="24980979" cy="9055142"/>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2725196" y="11520456"/>
            <a:ext cx="24980983" cy="25112472"/>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725203" y="40319834"/>
            <a:ext cx="6140116" cy="2278989"/>
          </a:xfrm>
          <a:prstGeom prst="rect">
            <a:avLst/>
          </a:prstGeom>
        </p:spPr>
        <p:txBody>
          <a:bodyPr vert="horz" lIns="91440" tIns="45720" rIns="91440" bIns="45720" rtlCol="0" anchor="ctr"/>
          <a:lstStyle>
            <a:lvl1pPr algn="l">
              <a:defRPr sz="637">
                <a:solidFill>
                  <a:srgbClr val="FFFFFF"/>
                </a:solidFill>
              </a:defRPr>
            </a:lvl1pPr>
          </a:lstStyle>
          <a:p>
            <a:fld id="{96DFF08F-DC6B-4601-B491-B0F83F6DD2DA}" type="datetimeFigureOut">
              <a:rPr lang="en-US" dirty="0"/>
              <a:pPr/>
              <a:t>12/16/2019</a:t>
            </a:fld>
            <a:endParaRPr lang="en-US"/>
          </a:p>
        </p:txBody>
      </p:sp>
      <p:sp>
        <p:nvSpPr>
          <p:cNvPr id="5" name="Footer Placeholder 4"/>
          <p:cNvSpPr>
            <a:spLocks noGrp="1"/>
          </p:cNvSpPr>
          <p:nvPr>
            <p:ph type="ftr" sz="quarter" idx="3"/>
          </p:nvPr>
        </p:nvSpPr>
        <p:spPr>
          <a:xfrm>
            <a:off x="9154988" y="40319834"/>
            <a:ext cx="11977886" cy="2278989"/>
          </a:xfrm>
          <a:prstGeom prst="rect">
            <a:avLst/>
          </a:prstGeom>
        </p:spPr>
        <p:txBody>
          <a:bodyPr vert="horz" lIns="91440" tIns="45720" rIns="91440" bIns="45720" rtlCol="0" anchor="ctr"/>
          <a:lstStyle>
            <a:lvl1pPr algn="ctr">
              <a:defRPr sz="637"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24588719" y="40319834"/>
            <a:ext cx="3258538" cy="2278989"/>
          </a:xfrm>
          <a:prstGeom prst="rect">
            <a:avLst/>
          </a:prstGeom>
        </p:spPr>
        <p:txBody>
          <a:bodyPr vert="horz" lIns="91440" tIns="45720" rIns="91440" bIns="45720" rtlCol="0" anchor="ctr"/>
          <a:lstStyle>
            <a:lvl1pPr algn="r">
              <a:defRPr sz="743">
                <a:solidFill>
                  <a:srgbClr val="FFFFFF"/>
                </a:solidFill>
              </a:defRPr>
            </a:lvl1pPr>
          </a:lstStyle>
          <a:p>
            <a:fld id="{4FAB73BC-B049-4115-A692-8D63A059BFB8}" type="slidenum">
              <a:rPr lang="en-US" dirty="0"/>
              <a:pPr/>
              <a:t>‹#›</a:t>
            </a:fld>
            <a:endParaRPr lang="en-US"/>
          </a:p>
        </p:txBody>
      </p:sp>
      <p:cxnSp>
        <p:nvCxnSpPr>
          <p:cNvPr id="10" name="Straight Connector 9"/>
          <p:cNvCxnSpPr/>
          <p:nvPr/>
        </p:nvCxnSpPr>
        <p:spPr>
          <a:xfrm>
            <a:off x="2964248" y="10847049"/>
            <a:ext cx="247538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3654351"/>
      </p:ext>
    </p:extLst>
  </p:cSld>
  <p:clrMap bg1="lt1" tx1="dk1" bg2="lt2" tx2="dk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kaggle.com/borismarjanovic/price-volume-data-for-all-us-stocks-etfs" TargetMode="External"/><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hyperlink" Target="https://github.com/NGYB/Stocks/blob/master/StockPricePrediction/StockPricePrediction_v3_mov_avg.ipynb"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ealkiri 1"/>
          <p:cNvSpPr>
            <a:spLocks noGrp="1"/>
          </p:cNvSpPr>
          <p:nvPr>
            <p:ph type="ctrTitle"/>
          </p:nvPr>
        </p:nvSpPr>
        <p:spPr>
          <a:xfrm>
            <a:off x="1187232" y="6195377"/>
            <a:ext cx="13343211" cy="5844223"/>
          </a:xfrm>
        </p:spPr>
        <p:txBody>
          <a:bodyPr vert="horz" lIns="91440" tIns="45720" rIns="91440" bIns="45720" rtlCol="0" anchor="t">
            <a:normAutofit/>
          </a:bodyPr>
          <a:lstStyle>
            <a:defPPr>
              <a:defRPr lang="et-EE"/>
            </a:defPPr>
            <a:lvl1pPr marL="0" algn="l" defTabSz="3508096" rtl="0" eaLnBrk="1" latinLnBrk="0" hangingPunct="1">
              <a:defRPr sz="6906" kern="1200">
                <a:solidFill>
                  <a:schemeClr val="tx1"/>
                </a:solidFill>
                <a:latin typeface="+mn-lt"/>
                <a:ea typeface="+mn-ea"/>
                <a:cs typeface="+mn-cs"/>
              </a:defRPr>
            </a:lvl1pPr>
            <a:lvl2pPr marL="1754048" algn="l" defTabSz="3508096" rtl="0" eaLnBrk="1" latinLnBrk="0" hangingPunct="1">
              <a:defRPr sz="6906" kern="1200">
                <a:solidFill>
                  <a:schemeClr val="tx1"/>
                </a:solidFill>
                <a:latin typeface="+mn-lt"/>
                <a:ea typeface="+mn-ea"/>
                <a:cs typeface="+mn-cs"/>
              </a:defRPr>
            </a:lvl2pPr>
            <a:lvl3pPr marL="3508096" algn="l" defTabSz="3508096" rtl="0" eaLnBrk="1" latinLnBrk="0" hangingPunct="1">
              <a:defRPr sz="6906" kern="1200">
                <a:solidFill>
                  <a:schemeClr val="tx1"/>
                </a:solidFill>
                <a:latin typeface="+mn-lt"/>
                <a:ea typeface="+mn-ea"/>
                <a:cs typeface="+mn-cs"/>
              </a:defRPr>
            </a:lvl3pPr>
            <a:lvl4pPr marL="5262143" algn="l" defTabSz="3508096" rtl="0" eaLnBrk="1" latinLnBrk="0" hangingPunct="1">
              <a:defRPr sz="6906" kern="1200">
                <a:solidFill>
                  <a:schemeClr val="tx1"/>
                </a:solidFill>
                <a:latin typeface="+mn-lt"/>
                <a:ea typeface="+mn-ea"/>
                <a:cs typeface="+mn-cs"/>
              </a:defRPr>
            </a:lvl4pPr>
            <a:lvl5pPr marL="7016191" algn="l" defTabSz="3508096" rtl="0" eaLnBrk="1" latinLnBrk="0" hangingPunct="1">
              <a:defRPr sz="6906" kern="1200">
                <a:solidFill>
                  <a:schemeClr val="tx1"/>
                </a:solidFill>
                <a:latin typeface="+mn-lt"/>
                <a:ea typeface="+mn-ea"/>
                <a:cs typeface="+mn-cs"/>
              </a:defRPr>
            </a:lvl5pPr>
            <a:lvl6pPr marL="8770239" algn="l" defTabSz="3508096" rtl="0" eaLnBrk="1" latinLnBrk="0" hangingPunct="1">
              <a:defRPr sz="6906" kern="1200">
                <a:solidFill>
                  <a:schemeClr val="tx1"/>
                </a:solidFill>
                <a:latin typeface="+mn-lt"/>
                <a:ea typeface="+mn-ea"/>
                <a:cs typeface="+mn-cs"/>
              </a:defRPr>
            </a:lvl6pPr>
            <a:lvl7pPr marL="10524287" algn="l" defTabSz="3508096" rtl="0" eaLnBrk="1" latinLnBrk="0" hangingPunct="1">
              <a:defRPr sz="6906" kern="1200">
                <a:solidFill>
                  <a:schemeClr val="tx1"/>
                </a:solidFill>
                <a:latin typeface="+mn-lt"/>
                <a:ea typeface="+mn-ea"/>
                <a:cs typeface="+mn-cs"/>
              </a:defRPr>
            </a:lvl7pPr>
            <a:lvl8pPr marL="12278335" algn="l" defTabSz="3508096" rtl="0" eaLnBrk="1" latinLnBrk="0" hangingPunct="1">
              <a:defRPr sz="6906" kern="1200">
                <a:solidFill>
                  <a:schemeClr val="tx1"/>
                </a:solidFill>
                <a:latin typeface="+mn-lt"/>
                <a:ea typeface="+mn-ea"/>
                <a:cs typeface="+mn-cs"/>
              </a:defRPr>
            </a:lvl8pPr>
            <a:lvl9pPr marL="14032382" algn="l" defTabSz="3508096" rtl="0" eaLnBrk="1" latinLnBrk="0" hangingPunct="1">
              <a:defRPr sz="6906" kern="1200">
                <a:solidFill>
                  <a:schemeClr val="tx1"/>
                </a:solidFill>
                <a:latin typeface="+mn-lt"/>
                <a:ea typeface="+mn-ea"/>
                <a:cs typeface="+mn-cs"/>
              </a:defRPr>
            </a:lvl9pPr>
          </a:lstStyle>
          <a:p>
            <a:pPr marL="857250" indent="-857250">
              <a:lnSpc>
                <a:spcPct val="150000"/>
              </a:lnSpc>
              <a:buFont typeface="Arial"/>
              <a:buChar char="•"/>
            </a:pPr>
            <a:r>
              <a:rPr lang="et-EE" sz="6000" dirty="0">
                <a:solidFill>
                  <a:srgbClr val="00B0F0"/>
                </a:solidFill>
                <a:cs typeface="Calibri" panose="020F0502020204030204"/>
              </a:rPr>
              <a:t>INTRODUCTION</a:t>
            </a:r>
            <a:br>
              <a:rPr lang="et-EE" sz="6000" dirty="0">
                <a:cs typeface="Calibri" panose="020F0502020204030204"/>
              </a:rPr>
            </a:br>
            <a:r>
              <a:rPr lang="et-EE" sz="4200" dirty="0">
                <a:cs typeface="Calibri" panose="020F0502020204030204"/>
              </a:rPr>
              <a:t>The aim of this project was to use machine learning to predict the future of a certain stock on the stock market. The predictions are made using previously gotten data about a certain stock, up to 2017.</a:t>
            </a:r>
          </a:p>
        </p:txBody>
      </p:sp>
      <p:sp>
        <p:nvSpPr>
          <p:cNvPr id="7" name="TextBox 6">
            <a:extLst>
              <a:ext uri="{FF2B5EF4-FFF2-40B4-BE49-F238E27FC236}">
                <a16:creationId xmlns:a16="http://schemas.microsoft.com/office/drawing/2014/main" id="{B8269A7F-D79D-476B-8A90-7E861A1619E5}"/>
              </a:ext>
            </a:extLst>
          </p:cNvPr>
          <p:cNvSpPr txBox="1"/>
          <p:nvPr/>
        </p:nvSpPr>
        <p:spPr>
          <a:xfrm>
            <a:off x="1187232" y="1713496"/>
            <a:ext cx="27922822" cy="2514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t-EE" sz="9600" b="1" err="1">
                <a:ea typeface="+mn-lt"/>
                <a:cs typeface="+mn-lt"/>
              </a:rPr>
              <a:t>Predicting</a:t>
            </a:r>
            <a:r>
              <a:rPr lang="et-EE" sz="9600" b="1">
                <a:ea typeface="+mn-lt"/>
                <a:cs typeface="+mn-lt"/>
              </a:rPr>
              <a:t> </a:t>
            </a:r>
            <a:r>
              <a:rPr lang="et-EE" sz="9600" b="1" err="1">
                <a:ea typeface="+mn-lt"/>
                <a:cs typeface="+mn-lt"/>
              </a:rPr>
              <a:t>stocks</a:t>
            </a:r>
            <a:r>
              <a:rPr lang="et-EE" sz="9600" b="1">
                <a:ea typeface="+mn-lt"/>
                <a:cs typeface="+mn-lt"/>
              </a:rPr>
              <a:t> </a:t>
            </a:r>
            <a:r>
              <a:rPr lang="et-EE" sz="9600" b="1" err="1">
                <a:ea typeface="+mn-lt"/>
                <a:cs typeface="+mn-lt"/>
              </a:rPr>
              <a:t>based</a:t>
            </a:r>
            <a:r>
              <a:rPr lang="et-EE" sz="9600" b="1">
                <a:ea typeface="+mn-lt"/>
                <a:cs typeface="+mn-lt"/>
              </a:rPr>
              <a:t> on </a:t>
            </a:r>
            <a:r>
              <a:rPr lang="et-EE" sz="9600" b="1" err="1">
                <a:ea typeface="+mn-lt"/>
                <a:cs typeface="+mn-lt"/>
              </a:rPr>
              <a:t>performances</a:t>
            </a:r>
            <a:r>
              <a:rPr lang="et-EE" sz="9600" b="1">
                <a:ea typeface="+mn-lt"/>
                <a:cs typeface="+mn-lt"/>
              </a:rPr>
              <a:t> </a:t>
            </a:r>
            <a:r>
              <a:rPr lang="et-EE" sz="9600" b="1" err="1">
                <a:ea typeface="+mn-lt"/>
                <a:cs typeface="+mn-lt"/>
              </a:rPr>
              <a:t>through</a:t>
            </a:r>
            <a:r>
              <a:rPr lang="et-EE" sz="9600" b="1">
                <a:ea typeface="+mn-lt"/>
                <a:cs typeface="+mn-lt"/>
              </a:rPr>
              <a:t> </a:t>
            </a:r>
            <a:r>
              <a:rPr lang="et-EE" sz="9600" b="1" err="1">
                <a:ea typeface="+mn-lt"/>
                <a:cs typeface="+mn-lt"/>
              </a:rPr>
              <a:t>years</a:t>
            </a:r>
            <a:r>
              <a:rPr lang="et-EE" sz="9600" b="1">
                <a:ea typeface="+mn-lt"/>
                <a:cs typeface="+mn-lt"/>
              </a:rPr>
              <a:t>.</a:t>
            </a:r>
            <a:endParaRPr lang="et-EE" b="1"/>
          </a:p>
        </p:txBody>
      </p:sp>
      <p:sp>
        <p:nvSpPr>
          <p:cNvPr id="4" name="TextBox 3">
            <a:extLst>
              <a:ext uri="{FF2B5EF4-FFF2-40B4-BE49-F238E27FC236}">
                <a16:creationId xmlns:a16="http://schemas.microsoft.com/office/drawing/2014/main" id="{04198170-A398-4093-BBB9-3044C827CD91}"/>
              </a:ext>
            </a:extLst>
          </p:cNvPr>
          <p:cNvSpPr txBox="1"/>
          <p:nvPr/>
        </p:nvSpPr>
        <p:spPr>
          <a:xfrm>
            <a:off x="1205418" y="27404214"/>
            <a:ext cx="11601703"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t-EE" sz="6000">
              <a:cs typeface="Calibri"/>
            </a:endParaRPr>
          </a:p>
        </p:txBody>
      </p:sp>
      <p:sp>
        <p:nvSpPr>
          <p:cNvPr id="6" name="Alapealkiri 2">
            <a:extLst>
              <a:ext uri="{FF2B5EF4-FFF2-40B4-BE49-F238E27FC236}">
                <a16:creationId xmlns:a16="http://schemas.microsoft.com/office/drawing/2014/main" id="{D6CFBCD0-4F59-4A2E-9F10-36C1F50F031F}"/>
              </a:ext>
            </a:extLst>
          </p:cNvPr>
          <p:cNvSpPr txBox="1">
            <a:spLocks/>
          </p:cNvSpPr>
          <p:nvPr/>
        </p:nvSpPr>
        <p:spPr>
          <a:xfrm>
            <a:off x="14887343" y="6195662"/>
            <a:ext cx="14012543" cy="6665175"/>
          </a:xfrm>
          <a:prstGeom prst="rect">
            <a:avLst/>
          </a:prstGeom>
        </p:spPr>
        <p:txBody>
          <a:bodyPr vert="horz" lIns="91440" tIns="45720" rIns="91440" bIns="45720" rtlCol="0" anchor="t">
            <a:normAutofit fontScale="92500" lnSpcReduction="10000"/>
          </a:bodyPr>
          <a:lstStyle>
            <a:defPPr>
              <a:defRPr lang="et-EE"/>
            </a:defPPr>
            <a:lvl1pPr marL="0" indent="0" algn="l" defTabSz="3508096" rtl="0" eaLnBrk="1" latinLnBrk="0" hangingPunct="1">
              <a:lnSpc>
                <a:spcPct val="90000"/>
              </a:lnSpc>
              <a:spcBef>
                <a:spcPts val="1000"/>
              </a:spcBef>
              <a:buFont typeface="Arial" panose="020B0604020202020204" pitchFamily="34" charset="0"/>
              <a:buNone/>
              <a:defRPr sz="6906" kern="1200">
                <a:solidFill>
                  <a:schemeClr val="tx1"/>
                </a:solidFill>
                <a:latin typeface="+mn-lt"/>
                <a:ea typeface="+mn-ea"/>
                <a:cs typeface="+mn-cs"/>
              </a:defRPr>
            </a:lvl1pPr>
            <a:lvl2pPr marL="1754048" indent="0" algn="l" defTabSz="3508096" rtl="0" eaLnBrk="1" latinLnBrk="0" hangingPunct="1">
              <a:lnSpc>
                <a:spcPct val="90000"/>
              </a:lnSpc>
              <a:spcBef>
                <a:spcPts val="500"/>
              </a:spcBef>
              <a:buFont typeface="Arial" panose="020B0604020202020204" pitchFamily="34" charset="0"/>
              <a:buNone/>
              <a:defRPr sz="6906" kern="1200">
                <a:solidFill>
                  <a:schemeClr val="tx1"/>
                </a:solidFill>
                <a:latin typeface="+mn-lt"/>
                <a:ea typeface="+mn-ea"/>
                <a:cs typeface="+mn-cs"/>
              </a:defRPr>
            </a:lvl2pPr>
            <a:lvl3pPr marL="3508096" indent="0" algn="l" defTabSz="3508096" rtl="0" eaLnBrk="1" latinLnBrk="0" hangingPunct="1">
              <a:lnSpc>
                <a:spcPct val="90000"/>
              </a:lnSpc>
              <a:spcBef>
                <a:spcPts val="500"/>
              </a:spcBef>
              <a:buFont typeface="Arial" panose="020B0604020202020204" pitchFamily="34" charset="0"/>
              <a:buNone/>
              <a:defRPr sz="6906" kern="1200">
                <a:solidFill>
                  <a:schemeClr val="tx1"/>
                </a:solidFill>
                <a:latin typeface="+mn-lt"/>
                <a:ea typeface="+mn-ea"/>
                <a:cs typeface="+mn-cs"/>
              </a:defRPr>
            </a:lvl3pPr>
            <a:lvl4pPr marL="5262143" indent="0" algn="l" defTabSz="3508096" rtl="0" eaLnBrk="1" latinLnBrk="0" hangingPunct="1">
              <a:lnSpc>
                <a:spcPct val="90000"/>
              </a:lnSpc>
              <a:spcBef>
                <a:spcPts val="500"/>
              </a:spcBef>
              <a:buFont typeface="Arial" panose="020B0604020202020204" pitchFamily="34" charset="0"/>
              <a:buNone/>
              <a:defRPr sz="6906" kern="1200">
                <a:solidFill>
                  <a:schemeClr val="tx1"/>
                </a:solidFill>
                <a:latin typeface="+mn-lt"/>
                <a:ea typeface="+mn-ea"/>
                <a:cs typeface="+mn-cs"/>
              </a:defRPr>
            </a:lvl4pPr>
            <a:lvl5pPr marL="7016191" indent="0" algn="l" defTabSz="3508096" rtl="0" eaLnBrk="1" latinLnBrk="0" hangingPunct="1">
              <a:lnSpc>
                <a:spcPct val="90000"/>
              </a:lnSpc>
              <a:spcBef>
                <a:spcPts val="500"/>
              </a:spcBef>
              <a:buFont typeface="Arial" panose="020B0604020202020204" pitchFamily="34" charset="0"/>
              <a:buNone/>
              <a:defRPr sz="6906" kern="1200">
                <a:solidFill>
                  <a:schemeClr val="tx1"/>
                </a:solidFill>
                <a:latin typeface="+mn-lt"/>
                <a:ea typeface="+mn-ea"/>
                <a:cs typeface="+mn-cs"/>
              </a:defRPr>
            </a:lvl5pPr>
            <a:lvl6pPr marL="8770239" indent="0" algn="l" defTabSz="3508096" rtl="0" eaLnBrk="1" latinLnBrk="0" hangingPunct="1">
              <a:lnSpc>
                <a:spcPct val="90000"/>
              </a:lnSpc>
              <a:spcBef>
                <a:spcPts val="500"/>
              </a:spcBef>
              <a:buFont typeface="Arial" panose="020B0604020202020204" pitchFamily="34" charset="0"/>
              <a:buNone/>
              <a:defRPr sz="6906" kern="1200">
                <a:solidFill>
                  <a:schemeClr val="tx1"/>
                </a:solidFill>
                <a:latin typeface="+mn-lt"/>
                <a:ea typeface="+mn-ea"/>
                <a:cs typeface="+mn-cs"/>
              </a:defRPr>
            </a:lvl6pPr>
            <a:lvl7pPr marL="10524287" indent="0" algn="l" defTabSz="3508096" rtl="0" eaLnBrk="1" latinLnBrk="0" hangingPunct="1">
              <a:lnSpc>
                <a:spcPct val="90000"/>
              </a:lnSpc>
              <a:spcBef>
                <a:spcPts val="500"/>
              </a:spcBef>
              <a:buFont typeface="Arial" panose="020B0604020202020204" pitchFamily="34" charset="0"/>
              <a:buNone/>
              <a:defRPr sz="6906" kern="1200">
                <a:solidFill>
                  <a:schemeClr val="tx1"/>
                </a:solidFill>
                <a:latin typeface="+mn-lt"/>
                <a:ea typeface="+mn-ea"/>
                <a:cs typeface="+mn-cs"/>
              </a:defRPr>
            </a:lvl7pPr>
            <a:lvl8pPr marL="12278335" indent="0" algn="l" defTabSz="3508096" rtl="0" eaLnBrk="1" latinLnBrk="0" hangingPunct="1">
              <a:lnSpc>
                <a:spcPct val="90000"/>
              </a:lnSpc>
              <a:spcBef>
                <a:spcPts val="500"/>
              </a:spcBef>
              <a:buFont typeface="Arial" panose="020B0604020202020204" pitchFamily="34" charset="0"/>
              <a:buNone/>
              <a:defRPr sz="6906" kern="1200">
                <a:solidFill>
                  <a:schemeClr val="tx1"/>
                </a:solidFill>
                <a:latin typeface="+mn-lt"/>
                <a:ea typeface="+mn-ea"/>
                <a:cs typeface="+mn-cs"/>
              </a:defRPr>
            </a:lvl8pPr>
            <a:lvl9pPr marL="14032382" indent="0" algn="l" defTabSz="3508096" rtl="0" eaLnBrk="1" latinLnBrk="0" hangingPunct="1">
              <a:lnSpc>
                <a:spcPct val="90000"/>
              </a:lnSpc>
              <a:spcBef>
                <a:spcPts val="500"/>
              </a:spcBef>
              <a:buFont typeface="Arial" panose="020B0604020202020204" pitchFamily="34" charset="0"/>
              <a:buNone/>
              <a:defRPr sz="6906" kern="1200">
                <a:solidFill>
                  <a:schemeClr val="tx1"/>
                </a:solidFill>
                <a:latin typeface="+mn-lt"/>
                <a:ea typeface="+mn-ea"/>
                <a:cs typeface="+mn-cs"/>
              </a:defRPr>
            </a:lvl9pPr>
          </a:lstStyle>
          <a:p>
            <a:pPr marL="857250" indent="-857250">
              <a:lnSpc>
                <a:spcPct val="150000"/>
              </a:lnSpc>
              <a:buChar char="•"/>
            </a:pPr>
            <a:r>
              <a:rPr lang="et-EE" sz="6000" dirty="0">
                <a:solidFill>
                  <a:srgbClr val="00B0F0"/>
                </a:solidFill>
                <a:ea typeface="+mn-lt"/>
                <a:cs typeface="+mn-lt"/>
              </a:rPr>
              <a:t>CONCLUSION</a:t>
            </a:r>
            <a:br>
              <a:rPr lang="et-EE" sz="6000" dirty="0">
                <a:ea typeface="+mn-lt"/>
                <a:cs typeface="+mn-lt"/>
              </a:rPr>
            </a:br>
            <a:r>
              <a:rPr lang="et-EE" sz="4200" dirty="0">
                <a:ea typeface="+mn-lt"/>
                <a:cs typeface="+mn-lt"/>
              </a:rPr>
              <a:t>RandomForestRegressor seemed to only work fine with the AMD stock. Linear Regression worked with all of the stocks. Although we tried to avoid overfitting using numerous methods, it still looks like the models are overfitting.  Our models predicted the AMD stock best, as seen below. We have chosen to display AMD </a:t>
            </a:r>
          </a:p>
          <a:p>
            <a:pPr marL="857250" indent="-857250">
              <a:lnSpc>
                <a:spcPct val="150000"/>
              </a:lnSpc>
              <a:buChar char="•"/>
            </a:pPr>
            <a:endParaRPr lang="et-EE" sz="4400" dirty="0">
              <a:ea typeface="+mn-lt"/>
              <a:cs typeface="+mn-lt"/>
            </a:endParaRPr>
          </a:p>
          <a:p>
            <a:pPr marL="857250" indent="-857250">
              <a:lnSpc>
                <a:spcPct val="150000"/>
              </a:lnSpc>
              <a:buChar char="•"/>
            </a:pPr>
            <a:endParaRPr lang="et-EE" sz="4400" dirty="0">
              <a:cs typeface="Calibri" panose="020F0502020204030204"/>
            </a:endParaRPr>
          </a:p>
        </p:txBody>
      </p:sp>
      <p:graphicFrame>
        <p:nvGraphicFramePr>
          <p:cNvPr id="8" name="Table 7">
            <a:extLst>
              <a:ext uri="{FF2B5EF4-FFF2-40B4-BE49-F238E27FC236}">
                <a16:creationId xmlns:a16="http://schemas.microsoft.com/office/drawing/2014/main" id="{A6FC415B-3214-4DAE-9491-02289B148CA3}"/>
              </a:ext>
            </a:extLst>
          </p:cNvPr>
          <p:cNvGraphicFramePr>
            <a:graphicFrameLocks noGrp="1"/>
          </p:cNvGraphicFramePr>
          <p:nvPr>
            <p:extLst>
              <p:ext uri="{D42A27DB-BD31-4B8C-83A1-F6EECF244321}">
                <p14:modId xmlns:p14="http://schemas.microsoft.com/office/powerpoint/2010/main" val="223386449"/>
              </p:ext>
            </p:extLst>
          </p:nvPr>
        </p:nvGraphicFramePr>
        <p:xfrm>
          <a:off x="16606684" y="14188003"/>
          <a:ext cx="9356128" cy="3552358"/>
        </p:xfrm>
        <a:graphic>
          <a:graphicData uri="http://schemas.openxmlformats.org/drawingml/2006/table">
            <a:tbl>
              <a:tblPr firstRow="1" bandRow="1">
                <a:tableStyleId>{5C22544A-7EE6-4342-B048-85BDC9FD1C3A}</a:tableStyleId>
              </a:tblPr>
              <a:tblGrid>
                <a:gridCol w="3598606">
                  <a:extLst>
                    <a:ext uri="{9D8B030D-6E8A-4147-A177-3AD203B41FA5}">
                      <a16:colId xmlns:a16="http://schemas.microsoft.com/office/drawing/2014/main" val="431524539"/>
                    </a:ext>
                  </a:extLst>
                </a:gridCol>
                <a:gridCol w="1946787">
                  <a:extLst>
                    <a:ext uri="{9D8B030D-6E8A-4147-A177-3AD203B41FA5}">
                      <a16:colId xmlns:a16="http://schemas.microsoft.com/office/drawing/2014/main" val="318352589"/>
                    </a:ext>
                  </a:extLst>
                </a:gridCol>
                <a:gridCol w="1976284">
                  <a:extLst>
                    <a:ext uri="{9D8B030D-6E8A-4147-A177-3AD203B41FA5}">
                      <a16:colId xmlns:a16="http://schemas.microsoft.com/office/drawing/2014/main" val="2158205240"/>
                    </a:ext>
                  </a:extLst>
                </a:gridCol>
                <a:gridCol w="1834451">
                  <a:extLst>
                    <a:ext uri="{9D8B030D-6E8A-4147-A177-3AD203B41FA5}">
                      <a16:colId xmlns:a16="http://schemas.microsoft.com/office/drawing/2014/main" val="3067786659"/>
                    </a:ext>
                  </a:extLst>
                </a:gridCol>
              </a:tblGrid>
              <a:tr h="1120859">
                <a:tc>
                  <a:txBody>
                    <a:bodyPr/>
                    <a:lstStyle/>
                    <a:p>
                      <a:pPr algn="ctr"/>
                      <a:endParaRPr lang="en-150" sz="4000" dirty="0"/>
                    </a:p>
                  </a:txBody>
                  <a:tcPr/>
                </a:tc>
                <a:tc>
                  <a:txBody>
                    <a:bodyPr/>
                    <a:lstStyle/>
                    <a:p>
                      <a:pPr algn="ctr"/>
                      <a:r>
                        <a:rPr lang="et-EE" sz="4000" dirty="0"/>
                        <a:t>AMD</a:t>
                      </a:r>
                      <a:endParaRPr lang="en-150" sz="4000" dirty="0"/>
                    </a:p>
                  </a:txBody>
                  <a:tcPr/>
                </a:tc>
                <a:tc>
                  <a:txBody>
                    <a:bodyPr/>
                    <a:lstStyle/>
                    <a:p>
                      <a:pPr algn="ctr"/>
                      <a:r>
                        <a:rPr lang="et-EE" sz="4000" dirty="0"/>
                        <a:t>MSFT</a:t>
                      </a:r>
                      <a:endParaRPr lang="en-150" sz="4000" dirty="0"/>
                    </a:p>
                  </a:txBody>
                  <a:tcPr/>
                </a:tc>
                <a:tc>
                  <a:txBody>
                    <a:bodyPr/>
                    <a:lstStyle/>
                    <a:p>
                      <a:pPr algn="ctr"/>
                      <a:r>
                        <a:rPr lang="et-EE" sz="4000" dirty="0"/>
                        <a:t>AAPL</a:t>
                      </a:r>
                      <a:endParaRPr lang="en-150" sz="4000" dirty="0"/>
                    </a:p>
                  </a:txBody>
                  <a:tcPr/>
                </a:tc>
                <a:extLst>
                  <a:ext uri="{0D108BD9-81ED-4DB2-BD59-A6C34878D82A}">
                    <a16:rowId xmlns:a16="http://schemas.microsoft.com/office/drawing/2014/main" val="4222584349"/>
                  </a:ext>
                </a:extLst>
              </a:tr>
              <a:tr h="1120859">
                <a:tc>
                  <a:txBody>
                    <a:bodyPr/>
                    <a:lstStyle/>
                    <a:p>
                      <a:pPr algn="ctr"/>
                      <a:r>
                        <a:rPr lang="et-EE" sz="4000" dirty="0"/>
                        <a:t>Lin Reg. Score</a:t>
                      </a:r>
                      <a:endParaRPr lang="en-150" sz="4000" dirty="0"/>
                    </a:p>
                  </a:txBody>
                  <a:tcPr/>
                </a:tc>
                <a:tc>
                  <a:txBody>
                    <a:bodyPr/>
                    <a:lstStyle/>
                    <a:p>
                      <a:pPr algn="ctr"/>
                      <a:r>
                        <a:rPr lang="et-EE" sz="4000" dirty="0"/>
                        <a:t>0.998</a:t>
                      </a:r>
                      <a:endParaRPr lang="en-150" sz="4000" dirty="0"/>
                    </a:p>
                  </a:txBody>
                  <a:tcPr/>
                </a:tc>
                <a:tc>
                  <a:txBody>
                    <a:bodyPr/>
                    <a:lstStyle/>
                    <a:p>
                      <a:pPr algn="ctr"/>
                      <a:r>
                        <a:rPr lang="et-EE" sz="4000" dirty="0"/>
                        <a:t>0.996</a:t>
                      </a:r>
                      <a:endParaRPr lang="en-150" sz="4000" dirty="0"/>
                    </a:p>
                  </a:txBody>
                  <a:tcPr/>
                </a:tc>
                <a:tc>
                  <a:txBody>
                    <a:bodyPr/>
                    <a:lstStyle/>
                    <a:p>
                      <a:pPr algn="ctr"/>
                      <a:r>
                        <a:rPr lang="et-EE" sz="4000" dirty="0"/>
                        <a:t>0.999</a:t>
                      </a:r>
                      <a:endParaRPr lang="en-150" sz="4000" dirty="0"/>
                    </a:p>
                  </a:txBody>
                  <a:tcPr/>
                </a:tc>
                <a:extLst>
                  <a:ext uri="{0D108BD9-81ED-4DB2-BD59-A6C34878D82A}">
                    <a16:rowId xmlns:a16="http://schemas.microsoft.com/office/drawing/2014/main" val="2425472426"/>
                  </a:ext>
                </a:extLst>
              </a:tr>
              <a:tr h="1120859">
                <a:tc>
                  <a:txBody>
                    <a:bodyPr/>
                    <a:lstStyle/>
                    <a:p>
                      <a:pPr algn="ctr"/>
                      <a:r>
                        <a:rPr lang="et-EE" sz="4000" dirty="0"/>
                        <a:t>RandomForest Score</a:t>
                      </a:r>
                      <a:endParaRPr lang="en-150" sz="4000" dirty="0"/>
                    </a:p>
                  </a:txBody>
                  <a:tcPr/>
                </a:tc>
                <a:tc>
                  <a:txBody>
                    <a:bodyPr/>
                    <a:lstStyle/>
                    <a:p>
                      <a:pPr algn="ctr"/>
                      <a:r>
                        <a:rPr lang="et-EE" sz="4000" dirty="0"/>
                        <a:t>0.999</a:t>
                      </a:r>
                      <a:endParaRPr lang="en-150" sz="4000" dirty="0"/>
                    </a:p>
                  </a:txBody>
                  <a:tcPr/>
                </a:tc>
                <a:tc>
                  <a:txBody>
                    <a:bodyPr/>
                    <a:lstStyle/>
                    <a:p>
                      <a:pPr algn="ctr"/>
                      <a:r>
                        <a:rPr lang="et-EE" sz="4000" dirty="0"/>
                        <a:t>0.998</a:t>
                      </a:r>
                      <a:endParaRPr lang="en-150" sz="4000" dirty="0"/>
                    </a:p>
                  </a:txBody>
                  <a:tcPr/>
                </a:tc>
                <a:tc>
                  <a:txBody>
                    <a:bodyPr/>
                    <a:lstStyle/>
                    <a:p>
                      <a:pPr algn="ctr"/>
                      <a:r>
                        <a:rPr lang="et-EE" sz="4000" dirty="0"/>
                        <a:t>-1.25</a:t>
                      </a:r>
                      <a:endParaRPr lang="en-150" sz="4000" dirty="0"/>
                    </a:p>
                  </a:txBody>
                  <a:tcPr/>
                </a:tc>
                <a:extLst>
                  <a:ext uri="{0D108BD9-81ED-4DB2-BD59-A6C34878D82A}">
                    <a16:rowId xmlns:a16="http://schemas.microsoft.com/office/drawing/2014/main" val="3766475368"/>
                  </a:ext>
                </a:extLst>
              </a:tr>
            </a:tbl>
          </a:graphicData>
        </a:graphic>
      </p:graphicFrame>
      <p:sp>
        <p:nvSpPr>
          <p:cNvPr id="14" name="Rectangle 13">
            <a:extLst>
              <a:ext uri="{FF2B5EF4-FFF2-40B4-BE49-F238E27FC236}">
                <a16:creationId xmlns:a16="http://schemas.microsoft.com/office/drawing/2014/main" id="{6E89CCBB-3DDF-40E6-AB32-BC4FE556BA8C}"/>
              </a:ext>
            </a:extLst>
          </p:cNvPr>
          <p:cNvSpPr/>
          <p:nvPr/>
        </p:nvSpPr>
        <p:spPr>
          <a:xfrm>
            <a:off x="1187232" y="13540137"/>
            <a:ext cx="11619889" cy="10102637"/>
          </a:xfrm>
          <a:prstGeom prst="rect">
            <a:avLst/>
          </a:prstGeom>
        </p:spPr>
        <p:txBody>
          <a:bodyPr wrap="square">
            <a:spAutoFit/>
          </a:bodyPr>
          <a:lstStyle/>
          <a:p>
            <a:pPr marL="857250" indent="-857250">
              <a:lnSpc>
                <a:spcPct val="150000"/>
              </a:lnSpc>
              <a:buFont typeface="Arial"/>
              <a:buChar char="•"/>
            </a:pPr>
            <a:r>
              <a:rPr lang="et-EE" sz="6000" dirty="0">
                <a:solidFill>
                  <a:srgbClr val="00B0F0"/>
                </a:solidFill>
              </a:rPr>
              <a:t>FINDINGS</a:t>
            </a:r>
            <a:br>
              <a:rPr lang="et-EE" sz="4400" dirty="0">
                <a:cs typeface="Calibri"/>
              </a:rPr>
            </a:br>
            <a:r>
              <a:rPr lang="en-GB" sz="4200" dirty="0"/>
              <a:t>The data that is used is from a Kaggle </a:t>
            </a:r>
            <a:r>
              <a:rPr lang="et-EE" sz="4200" dirty="0"/>
              <a:t>dataset</a:t>
            </a:r>
            <a:r>
              <a:rPr lang="en-GB" sz="4200" dirty="0"/>
              <a:t> and it was split into three sections. 60% for  training the algorithm, 30% for validation of the training and 10% for the for the test.   Each stock contained data: date, opening price, highest price, lowest price, losing price and volume - how many transactions took place during that day.</a:t>
            </a:r>
            <a:endParaRPr lang="et-EE" sz="4200" dirty="0"/>
          </a:p>
          <a:p>
            <a:pPr marL="857250" indent="-857250">
              <a:lnSpc>
                <a:spcPct val="150000"/>
              </a:lnSpc>
              <a:buFont typeface="Arial"/>
              <a:buChar char="•"/>
            </a:pPr>
            <a:endParaRPr lang="et-EE" sz="4200" dirty="0">
              <a:cs typeface="Calibri" panose="020F0502020204030204"/>
            </a:endParaRPr>
          </a:p>
        </p:txBody>
      </p:sp>
      <p:sp>
        <p:nvSpPr>
          <p:cNvPr id="15" name="TextBox 14">
            <a:extLst>
              <a:ext uri="{FF2B5EF4-FFF2-40B4-BE49-F238E27FC236}">
                <a16:creationId xmlns:a16="http://schemas.microsoft.com/office/drawing/2014/main" id="{B2977C03-8600-43B1-972B-6898EFD81A0E}"/>
              </a:ext>
            </a:extLst>
          </p:cNvPr>
          <p:cNvSpPr txBox="1"/>
          <p:nvPr/>
        </p:nvSpPr>
        <p:spPr>
          <a:xfrm>
            <a:off x="1563329" y="40617058"/>
            <a:ext cx="27336557" cy="1015663"/>
          </a:xfrm>
          <a:prstGeom prst="rect">
            <a:avLst/>
          </a:prstGeom>
          <a:noFill/>
        </p:spPr>
        <p:txBody>
          <a:bodyPr wrap="square" rtlCol="0">
            <a:spAutoFit/>
          </a:bodyPr>
          <a:lstStyle/>
          <a:p>
            <a:pPr algn="r"/>
            <a:r>
              <a:rPr lang="et-EE" sz="6000" dirty="0"/>
              <a:t>QR Code to the repo:   		</a:t>
            </a:r>
            <a:endParaRPr lang="en-150" dirty="0"/>
          </a:p>
        </p:txBody>
      </p:sp>
      <p:pic>
        <p:nvPicPr>
          <p:cNvPr id="17" name="Picture 16">
            <a:extLst>
              <a:ext uri="{FF2B5EF4-FFF2-40B4-BE49-F238E27FC236}">
                <a16:creationId xmlns:a16="http://schemas.microsoft.com/office/drawing/2014/main" id="{176B556D-84D3-475F-8933-BF7E503F19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47386" y="40172389"/>
            <a:ext cx="1905000" cy="1905000"/>
          </a:xfrm>
          <a:prstGeom prst="rect">
            <a:avLst/>
          </a:prstGeom>
        </p:spPr>
      </p:pic>
      <p:sp>
        <p:nvSpPr>
          <p:cNvPr id="18" name="TextBox 17">
            <a:extLst>
              <a:ext uri="{FF2B5EF4-FFF2-40B4-BE49-F238E27FC236}">
                <a16:creationId xmlns:a16="http://schemas.microsoft.com/office/drawing/2014/main" id="{2522A01F-457F-4ECB-8477-1BC69621FD1A}"/>
              </a:ext>
            </a:extLst>
          </p:cNvPr>
          <p:cNvSpPr txBox="1"/>
          <p:nvPr/>
        </p:nvSpPr>
        <p:spPr>
          <a:xfrm>
            <a:off x="15231607" y="18296607"/>
            <a:ext cx="13783905" cy="7478970"/>
          </a:xfrm>
          <a:prstGeom prst="rect">
            <a:avLst/>
          </a:prstGeom>
          <a:noFill/>
        </p:spPr>
        <p:txBody>
          <a:bodyPr wrap="square" rtlCol="0">
            <a:spAutoFit/>
          </a:bodyPr>
          <a:lstStyle/>
          <a:p>
            <a:r>
              <a:rPr lang="et-EE" sz="6000" dirty="0"/>
              <a:t>Data from: </a:t>
            </a:r>
            <a:r>
              <a:rPr lang="et-EE" sz="6000" dirty="0">
                <a:hlinkClick r:id="rId3"/>
              </a:rPr>
              <a:t>https://www.kaggle.com/borismarjanovic/price-volume-data-for-all-us-stocks-etfs</a:t>
            </a:r>
            <a:endParaRPr lang="et-EE" sz="6000" dirty="0"/>
          </a:p>
          <a:p>
            <a:endParaRPr lang="et-EE" sz="6000" dirty="0"/>
          </a:p>
          <a:p>
            <a:r>
              <a:rPr lang="et-EE" sz="6000" dirty="0"/>
              <a:t>Kernel as a base: </a:t>
            </a:r>
            <a:r>
              <a:rPr lang="et-EE" sz="6000" dirty="0">
                <a:hlinkClick r:id="rId4"/>
              </a:rPr>
              <a:t>https://github.com/NGYB/Stocks/blob/master/StockPricePrediction/StockPricePrediction_v3_mov_avg.ipynb</a:t>
            </a:r>
            <a:endParaRPr lang="en-150" sz="6000" dirty="0"/>
          </a:p>
        </p:txBody>
      </p:sp>
      <p:sp>
        <p:nvSpPr>
          <p:cNvPr id="22" name="TextBox 21">
            <a:extLst>
              <a:ext uri="{FF2B5EF4-FFF2-40B4-BE49-F238E27FC236}">
                <a16:creationId xmlns:a16="http://schemas.microsoft.com/office/drawing/2014/main" id="{9FB35012-8153-47F9-AAE1-FDFA6A0CFA12}"/>
              </a:ext>
            </a:extLst>
          </p:cNvPr>
          <p:cNvSpPr txBox="1"/>
          <p:nvPr/>
        </p:nvSpPr>
        <p:spPr>
          <a:xfrm>
            <a:off x="1187232" y="23579199"/>
            <a:ext cx="13343211" cy="3316164"/>
          </a:xfrm>
          <a:prstGeom prst="rect">
            <a:avLst/>
          </a:prstGeom>
          <a:noFill/>
        </p:spPr>
        <p:txBody>
          <a:bodyPr wrap="square" rtlCol="0">
            <a:spAutoFit/>
          </a:bodyPr>
          <a:lstStyle/>
          <a:p>
            <a:pPr marL="857250" indent="-857250">
              <a:lnSpc>
                <a:spcPct val="150000"/>
              </a:lnSpc>
              <a:buFont typeface="Arial"/>
              <a:buChar char="•"/>
            </a:pPr>
            <a:r>
              <a:rPr lang="et-EE" sz="6000" dirty="0">
                <a:solidFill>
                  <a:srgbClr val="00B0F0"/>
                </a:solidFill>
              </a:rPr>
              <a:t>TRAINING THE MODEL</a:t>
            </a:r>
            <a:br>
              <a:rPr lang="et-EE" sz="6000" dirty="0">
                <a:cs typeface="Calibri"/>
              </a:rPr>
            </a:br>
            <a:r>
              <a:rPr lang="et-EE" sz="4200" dirty="0">
                <a:cs typeface="Calibri"/>
              </a:rPr>
              <a:t>We used two machine learning algorithms: linear regression and random forest regressor</a:t>
            </a:r>
            <a:endParaRPr lang="et-EE" sz="4200" dirty="0"/>
          </a:p>
        </p:txBody>
      </p:sp>
      <p:pic>
        <p:nvPicPr>
          <p:cNvPr id="11" name="Picture 10">
            <a:extLst>
              <a:ext uri="{FF2B5EF4-FFF2-40B4-BE49-F238E27FC236}">
                <a16:creationId xmlns:a16="http://schemas.microsoft.com/office/drawing/2014/main" id="{7F722CCE-E5EC-4C99-A6A0-3C485C0DFA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25357" y="27759097"/>
            <a:ext cx="23812500" cy="9525000"/>
          </a:xfrm>
          <a:prstGeom prst="rect">
            <a:avLst/>
          </a:prstGeom>
        </p:spPr>
      </p:pic>
      <p:sp>
        <p:nvSpPr>
          <p:cNvPr id="9" name="TextBox 8">
            <a:extLst>
              <a:ext uri="{FF2B5EF4-FFF2-40B4-BE49-F238E27FC236}">
                <a16:creationId xmlns:a16="http://schemas.microsoft.com/office/drawing/2014/main" id="{9C603AF8-2BA6-4AD7-B1AD-A040D2E11722}"/>
              </a:ext>
            </a:extLst>
          </p:cNvPr>
          <p:cNvSpPr txBox="1"/>
          <p:nvPr/>
        </p:nvSpPr>
        <p:spPr>
          <a:xfrm>
            <a:off x="10519481" y="28440820"/>
            <a:ext cx="4949372" cy="1015663"/>
          </a:xfrm>
          <a:prstGeom prst="rect">
            <a:avLst/>
          </a:prstGeom>
          <a:noFill/>
        </p:spPr>
        <p:txBody>
          <a:bodyPr wrap="square" rtlCol="0">
            <a:spAutoFit/>
          </a:bodyPr>
          <a:lstStyle/>
          <a:p>
            <a:r>
              <a:rPr lang="et-EE" sz="6000" dirty="0"/>
              <a:t>Stock: AMD</a:t>
            </a:r>
            <a:endParaRPr lang="en-150" sz="6000" dirty="0"/>
          </a:p>
        </p:txBody>
      </p:sp>
    </p:spTree>
    <p:extLst>
      <p:ext uri="{BB962C8B-B14F-4D97-AF65-F5344CB8AC3E}">
        <p14:creationId xmlns:p14="http://schemas.microsoft.com/office/powerpoint/2010/main" val="4110222743"/>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docProps/app.xml><?xml version="1.0" encoding="utf-8"?>
<Properties xmlns="http://schemas.openxmlformats.org/officeDocument/2006/extended-properties" xmlns:vt="http://schemas.openxmlformats.org/officeDocument/2006/docPropsVTypes">
  <Template/>
  <TotalTime>0</TotalTime>
  <Words>83</Words>
  <Application>Microsoft Office PowerPoint</Application>
  <PresentationFormat>Custom</PresentationFormat>
  <Paragraphs>21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Retrospect</vt:lpstr>
      <vt:lpstr>INTRODUCTION The aim of this project was to use machine learning to predict the future of a certain stock on the stock market. The predictions are made using previously gotten data about a certain stock, up to 2017.</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PowerPointi esitlus</dc:title>
  <dc:creator/>
  <cp:lastModifiedBy/>
  <cp:revision>1</cp:revision>
  <dcterms:created xsi:type="dcterms:W3CDTF">2019-12-16T03:41:13Z</dcterms:created>
  <dcterms:modified xsi:type="dcterms:W3CDTF">2019-12-16T10:26:53Z</dcterms:modified>
</cp:coreProperties>
</file>